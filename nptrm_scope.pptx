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sldIdLst>
    <p:sldId id="776" r:id="rId4"/>
    <p:sldId id="846" r:id="rId6"/>
    <p:sldId id="847" r:id="rId7"/>
    <p:sldId id="848" r:id="rId8"/>
    <p:sldId id="851" r:id="rId9"/>
    <p:sldId id="857" r:id="rId10"/>
    <p:sldId id="850" r:id="rId11"/>
    <p:sldId id="849" r:id="rId12"/>
    <p:sldId id="854" r:id="rId13"/>
    <p:sldId id="855" r:id="rId14"/>
    <p:sldId id="853" r:id="rId15"/>
    <p:sldId id="856" r:id="rId16"/>
    <p:sldId id="814" r:id="rId17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00000"/>
    <a:srgbClr val="202982"/>
    <a:srgbClr val="0033CC"/>
    <a:srgbClr val="B410A0"/>
    <a:srgbClr val="FF9900"/>
    <a:srgbClr val="F3F9FA"/>
    <a:srgbClr val="E7F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747" autoAdjust="0"/>
  </p:normalViewPr>
  <p:slideViewPr>
    <p:cSldViewPr showGuides="1">
      <p:cViewPr varScale="1">
        <p:scale>
          <a:sx n="128" d="100"/>
          <a:sy n="128" d="100"/>
        </p:scale>
        <p:origin x="606" y="90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7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701CC0-E88A-4480-82C6-2E0724D0FE18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7388"/>
            <a:ext cx="4568825" cy="34274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FAAD8-CAE9-474F-80FF-8F1761DCC0AE}" type="slidenum">
              <a:rPr lang="en-US" smtClean="0">
                <a:solidFill>
                  <a:prstClr val="black"/>
                </a:solidFill>
              </a:rPr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D3540-FA4C-4B2B-A720-6EA77CBD664B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83C6A-C8B1-4F5E-9971-63BA64907C17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CC75-6135-4797-A43A-CE1A6857B112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B29B4-C9C8-41B8-8BA4-D931D3883793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C3FD7-EDBC-4CFA-B742-7C35F718D065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8D682-F495-4013-AFD2-811C357830DC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4906D-791A-4932-8C4A-0E612DDDCF25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E0025-E832-4F76-BE8A-8DE1F4EB7A09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636FF-474D-4554-8F10-DFFA79F38212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C9087-195D-4D51-8CED-8FF88400F818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EE766-0F58-4B40-9672-090A03C45F75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E99FB-818B-4F40-8E94-164B34C9D0CB}" type="datetime1">
              <a:rPr lang="en-US" smtClean="0"/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03D85-ECFB-4676-A9F8-A579C68F8C27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00400"/>
            <a:ext cx="91440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6159E-CEBF-4EC6-8081-8737A834784D}" type="datetime1">
              <a:rPr lang="en-US" smtClean="0"/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92D46-BD48-4B3D-9B14-3B96E9B012FE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432560"/>
            <a:ext cx="8778240" cy="51206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243D12-630C-4FA3-88DD-8670F2D6D486}" type="datetime1">
              <a:rPr lang="en-US" smtClean="0"/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EE9D7-8237-421B-ABD8-07240DD07F0C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CABB0-0EB6-4D3F-AF50-B809163EF5A8}" type="datetime1">
              <a:rPr lang="en-US" smtClean="0"/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8A23C-F740-4BA5-BA02-6C5BB76EEB80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C4D2D-875A-4C37-ABC1-B9EEBEF9DD13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4B072-172B-47EC-8EC2-83CFD157B803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2BDC7-995E-441F-AA81-A6924AFFAA68}" type="datetime1">
              <a:rPr lang="en-US" smtClean="0"/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FDDA3-BED3-41BF-8B87-57F0C414BD8E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A3F0F-C924-4C12-8B22-5C09AEB93836}" type="datetime1">
              <a:rPr lang="en-US" smtClean="0"/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AC02E-E4FC-4C14-A70B-EB70D421FA43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351E9-9C22-4E88-8421-6F87DD0E8AC9}" type="datetime1">
              <a:rPr lang="en-US" smtClean="0"/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F8909-4F08-4903-B223-1DA08B0F1447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3008313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83920"/>
            <a:ext cx="5111750" cy="5303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099"/>
            <a:ext cx="3008313" cy="47548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F12D2-5E22-4BFA-8904-F933EC03EB2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680AF-6E73-41F3-A717-85F14C93A998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09D82-B4C2-4AB8-9159-E2B6DDFC9724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56082-3AF0-4F0E-BC98-C482DD12C859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677EE-4F31-48B9-86F2-83CAEF5AE5D9}" type="datetime1">
              <a:rPr lang="en-US" smtClean="0"/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C2B94-C6ED-4A0F-B95E-B8F6E13AE1E5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AD4BE-6209-4959-8282-FC43AD75D9D8}" type="datetime1">
              <a:rPr lang="en-US" smtClean="0"/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01C67-A68A-4CCD-BF87-7A79117E4F9C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315917"/>
            <a:ext cx="16764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52400" y="792833"/>
            <a:ext cx="8841682" cy="218088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967944"/>
            <a:ext cx="6934200" cy="457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E281C-BAC8-4D37-84E9-30D3D0D4E956}" type="datetime1">
              <a:rPr lang="en-US" smtClean="0"/>
            </a:fld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659C-4511-43ED-BB93-4246E9669B29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25" y="0"/>
            <a:ext cx="90233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0050" y="569914"/>
            <a:ext cx="3263900" cy="869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4876800" y="3762376"/>
            <a:ext cx="3924300" cy="733530"/>
          </a:xfrm>
          <a:prstGeom prst="rect">
            <a:avLst/>
          </a:prstGeom>
          <a:noFill/>
        </p:spPr>
        <p:txBody>
          <a:bodyPr lIns="91436" tIns="45718" rIns="91436" bIns="45718">
            <a:spAutoFit/>
          </a:bodyPr>
          <a:lstStyle/>
          <a:p>
            <a:pPr algn="r" fontAlgn="auto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prstClr val="black">
                    <a:lumMod val="50000"/>
                  </a:prstClr>
                </a:solidFill>
                <a:latin typeface="Tahoma" panose="020B0604030504040204"/>
                <a:cs typeface="Arial" panose="020B0604020202020204" pitchFamily="34" charset="0"/>
              </a:rPr>
              <a:t>Shri. G. Mohan Kumar</a:t>
            </a:r>
            <a:endParaRPr lang="en-US" b="1" dirty="0">
              <a:solidFill>
                <a:prstClr val="black">
                  <a:lumMod val="50000"/>
                </a:prstClr>
              </a:solidFill>
              <a:latin typeface="Tahoma" panose="020B0604030504040204"/>
              <a:cs typeface="Arial" panose="020B0604020202020204" pitchFamily="34" charset="0"/>
            </a:endParaRPr>
          </a:p>
          <a:p>
            <a:pPr algn="r" fontAlgn="auto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Tahoma" panose="020B0604030504040204"/>
                <a:cs typeface="Arial" panose="020B0604020202020204" pitchFamily="34" charset="0"/>
              </a:rPr>
              <a:t>Secretary - Defence Production</a:t>
            </a:r>
            <a:endParaRPr lang="en-US" sz="1400" dirty="0">
              <a:solidFill>
                <a:prstClr val="black">
                  <a:lumMod val="50000"/>
                </a:prstClr>
              </a:solidFill>
              <a:latin typeface="Tahoma" panose="020B0604030504040204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876800" y="3335340"/>
            <a:ext cx="3924300" cy="412930"/>
          </a:xfrm>
          <a:prstGeom prst="rect">
            <a:avLst/>
          </a:prstGeom>
          <a:noFill/>
        </p:spPr>
        <p:txBody>
          <a:bodyPr lIns="91436" tIns="45718" rIns="91436" bIns="45718">
            <a:spAutoFit/>
          </a:bodyPr>
          <a:lstStyle/>
          <a:p>
            <a:pPr algn="r" fontAlgn="auto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prstClr val="black">
                    <a:lumMod val="50000"/>
                  </a:prstClr>
                </a:solidFill>
                <a:latin typeface="Tahoma" panose="020B0604030504040204"/>
                <a:cs typeface="Arial" panose="020B0604020202020204" pitchFamily="34" charset="0"/>
              </a:rPr>
              <a:t>Hearty Welcome  to</a:t>
            </a:r>
            <a:endParaRPr lang="en-US" sz="2800" dirty="0">
              <a:solidFill>
                <a:prstClr val="black">
                  <a:lumMod val="50000"/>
                </a:prstClr>
              </a:solidFill>
              <a:latin typeface="Tahoma" panose="020B0604030504040204"/>
              <a:cs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6AE8-0380-4693-932F-8E91586DEF56}" type="datetime1">
              <a:rPr lang="en-US" smtClean="0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2015E-2EC1-493B-AC18-5D605B35E823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315917"/>
            <a:ext cx="16764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52400" y="792833"/>
            <a:ext cx="8841682" cy="218088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967944"/>
            <a:ext cx="6934200" cy="457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E281C-BAC8-4D37-84E9-30D3D0D4E956}" type="datetime1">
              <a:rPr lang="en-US" smtClean="0"/>
            </a:fld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659C-4511-43ED-BB93-4246E9669B29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315915"/>
            <a:ext cx="16764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52400" y="792833"/>
            <a:ext cx="8841682" cy="218088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967944"/>
            <a:ext cx="6934200" cy="457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E281C-BAC8-4D37-84E9-30D3D0D4E956}" type="datetime1">
              <a:rPr lang="en-US" smtClean="0"/>
            </a:fld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659C-4511-43ED-BB93-4246E9669B29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315915"/>
            <a:ext cx="16764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52400" y="792833"/>
            <a:ext cx="8841682" cy="218088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967944"/>
            <a:ext cx="6934200" cy="457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E281C-BAC8-4D37-84E9-30D3D0D4E956}" type="datetime1">
              <a:rPr lang="en-US" smtClean="0"/>
            </a:fld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659C-4511-43ED-BB93-4246E9669B29}" type="slidenum">
              <a:rPr lang="en-US"/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315933"/>
            <a:ext cx="16764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/>
          <p:nvPr userDrawn="1"/>
        </p:nvGrpSpPr>
        <p:grpSpPr>
          <a:xfrm>
            <a:off x="152400" y="792833"/>
            <a:ext cx="8841682" cy="218088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5" name="Rectangle 4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4958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ight Triangle 5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4958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7"/>
            <a:ext cx="7315200" cy="639763"/>
          </a:xfrm>
        </p:spPr>
        <p:txBody>
          <a:bodyPr/>
          <a:lstStyle>
            <a:lvl1pPr>
              <a:defRPr sz="2000" b="1">
                <a:solidFill>
                  <a:srgbClr val="377BCD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EAE4E-D069-483D-B4EC-7742DC1BBA9A}" type="slidenum">
              <a:rPr lang="en-US">
                <a:solidFill>
                  <a:prstClr val="white">
                    <a:lumMod val="50000"/>
                  </a:prstClr>
                </a:solidFill>
              </a:rPr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4.jpeg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035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Name of Presentation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610350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CB07CAD-4AEB-436A-8451-A6D9CF47906B}" type="slidenum">
              <a:rPr 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3820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3363"/>
            <a:ext cx="1371600" cy="274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848B57-6F25-479D-96B2-1B2A7540368A}" type="datetime1">
              <a:rPr lang="en-US" smtClean="0"/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583363"/>
            <a:ext cx="7315200" cy="274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1675" y="6583363"/>
            <a:ext cx="822325" cy="274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6973F2-E09F-4FD8-A4FC-85CB14D98C7D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3300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3300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3300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3300"/>
          </a:solidFill>
          <a:latin typeface="Tahom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Char char="•"/>
        <a:defRPr sz="32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Char char="–"/>
        <a:defRPr sz="2800" b="1">
          <a:solidFill>
            <a:srgbClr val="0000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Char char="•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Char char="–"/>
        <a:defRPr sz="2000" b="1">
          <a:solidFill>
            <a:srgbClr val="0000FF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Char char="»"/>
        <a:defRPr sz="2000" b="1">
          <a:solidFill>
            <a:srgbClr val="0000F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9" name="Picture 9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504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0050" y="569914"/>
            <a:ext cx="3263900" cy="869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15"/>
          <p:cNvSpPr/>
          <p:nvPr/>
        </p:nvSpPr>
        <p:spPr>
          <a:xfrm>
            <a:off x="4749354" y="2286000"/>
            <a:ext cx="3889594" cy="2133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NPTRM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2280" y="6309320"/>
            <a:ext cx="1223404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IN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 2026</a:t>
            </a:r>
            <a:endParaRPr lang="en-IN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/>
              <a:t>Introduction</a:t>
            </a:r>
            <a:endParaRPr lang="en-IN" sz="2800" b="1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1000" y="1648797"/>
            <a:ext cx="8458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modernizing the production process for Printed Circuit Boards (PCBs) at BEL.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aims to digitize and automate a complex manual process that currently involves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40+ distinct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primary goal is to reduce manual effort and eliminate the heavy reliance on manual data entry by skilled workers.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initiative ensures real-time tracking of all materials and components throughout the entire production lifecycle.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establishes a fully auditable manufacturing process to meet strict quality and compliance standards.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automating the assembly line, the project enhances production efficiency while ensuring the high quality necessary for mission-critical systems.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Business Objective</a:t>
            </a:r>
            <a:endParaRPr lang="en-IN" sz="2800" b="1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26720" y="1540589"/>
            <a:ext cx="84582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IN" dirty="0"/>
              <a:t>The primary objectives are</a:t>
            </a:r>
            <a:r>
              <a:rPr lang="en-IN" dirty="0" smtClean="0"/>
              <a:t>:</a:t>
            </a:r>
            <a:endParaRPr lang="en-IN" dirty="0" smtClean="0"/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 manual effort and human dependency in production of PCB</a:t>
            </a:r>
            <a:r>
              <a:rPr lang="en-IN" dirty="0" smtClean="0"/>
              <a:t>.</a:t>
            </a:r>
            <a:endParaRPr lang="en-IN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Improve operational accuracy and reduce data entry-related errors</a:t>
            </a:r>
            <a:r>
              <a:rPr lang="en-IN" dirty="0" smtClean="0"/>
              <a:t>.</a:t>
            </a:r>
            <a:endParaRPr lang="en-IN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Enable real-time tracking and full auditability of received materials</a:t>
            </a:r>
            <a:r>
              <a:rPr lang="en-IN" dirty="0" smtClean="0"/>
              <a:t>.</a:t>
            </a:r>
            <a:endParaRPr lang="en-IN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Automated ingestion of machine-generated files and real-time machine status monitoring</a:t>
            </a:r>
            <a:r>
              <a:rPr lang="en-IN" dirty="0" smtClean="0"/>
              <a:t>.</a:t>
            </a:r>
            <a:endParaRPr lang="en-IN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170" y="86923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Problem</a:t>
            </a:r>
            <a:r>
              <a:rPr lang="en-US" b="1" dirty="0" smtClean="0"/>
              <a:t> </a:t>
            </a:r>
            <a:r>
              <a:rPr lang="en-US" sz="2800" b="1" dirty="0" smtClean="0"/>
              <a:t>Statement</a:t>
            </a:r>
            <a:endParaRPr lang="en-IN" sz="2800" b="1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1000" y="2092642"/>
            <a:ext cx="85343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IN" dirty="0"/>
              <a:t>The existing production process involves</a:t>
            </a:r>
            <a:r>
              <a:rPr lang="en-IN" dirty="0" smtClean="0"/>
              <a:t>:</a:t>
            </a:r>
            <a:endParaRPr lang="en-IN" dirty="0" smtClean="0"/>
          </a:p>
          <a:p>
            <a:endParaRPr lang="en-US" sz="1600" dirty="0"/>
          </a:p>
          <a:p>
            <a:pPr lvl="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Fragmented Data Collection:</a:t>
            </a:r>
            <a:r>
              <a:rPr lang="en-US" altLang="en-US" sz="1600" dirty="0">
                <a:latin typeface="Arial" panose="020B0604020202020204" pitchFamily="34" charset="0"/>
              </a:rPr>
              <a:t> Reliance on manual entry for process data, leading to human error and delayed reporting.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Limited Traceability:</a:t>
            </a:r>
            <a:r>
              <a:rPr lang="en-US" altLang="en-US" sz="1600" dirty="0">
                <a:latin typeface="Arial" panose="020B0604020202020204" pitchFamily="34" charset="0"/>
              </a:rPr>
              <a:t> Use of physical route cards makes real-time tracking and historical auditing difficult.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Operational Blind Spots:</a:t>
            </a:r>
            <a:r>
              <a:rPr lang="en-US" altLang="en-US" sz="1600" dirty="0">
                <a:latin typeface="Arial" panose="020B0604020202020204" pitchFamily="34" charset="0"/>
              </a:rPr>
              <a:t> Lack of automated dashboards prevents visibility into production targets and actual output.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Time Management Inefficiency:</a:t>
            </a:r>
            <a:r>
              <a:rPr lang="en-US" altLang="en-US" sz="1600" dirty="0">
                <a:latin typeface="Arial" panose="020B0604020202020204" pitchFamily="34" charset="0"/>
              </a:rPr>
              <a:t> Inability to accurately measure Cycle Time versus Idle Time.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Disconnected Infrastructure:</a:t>
            </a:r>
            <a:r>
              <a:rPr lang="en-US" altLang="en-US" sz="1600" dirty="0">
                <a:latin typeface="Arial" panose="020B0604020202020204" pitchFamily="34" charset="0"/>
              </a:rPr>
              <a:t> Requirement for machine integration to enable automated, real-time data capture</a:t>
            </a:r>
            <a:r>
              <a:rPr lang="en-US" altLang="en-US" sz="1600" dirty="0" smtClean="0">
                <a:latin typeface="Arial" panose="020B0604020202020204" pitchFamily="34" charset="0"/>
              </a:rPr>
              <a:t>.</a:t>
            </a:r>
            <a:endParaRPr lang="en-US" altLang="en-US" sz="1600" dirty="0" smtClean="0">
              <a:latin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970" y="834750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Proposed Workflow</a:t>
            </a:r>
            <a:endParaRPr lang="en-IN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348451"/>
            <a:ext cx="4038600" cy="5207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Proposed Workflow</a:t>
            </a:r>
            <a:endParaRPr lang="en-IN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981200"/>
          <a:ext cx="7010400" cy="34845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1858"/>
                <a:gridCol w="5218542"/>
              </a:tblGrid>
              <a:tr h="425487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Stakeholder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Responsibility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  <a:tr h="554983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Admin, Adding Project details, processes, Creating profiles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  <a:tr h="554983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Supervisor Internal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</a:rPr>
                        <a:t>Analysing Dashboards, Adding Operators, Creating workflow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  <a:tr h="554983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Supervisor External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Analysing Dashboards for assessing the manufacturing flow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  <a:tr h="554983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Operators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</a:rPr>
                        <a:t>Perform operations 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  <a:tr h="554983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Quality Manager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</a:rPr>
                        <a:t>Manages the Manufacturing Readiness level of Operators for specific operations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03" marR="65103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19200" y="1559676"/>
            <a:ext cx="27013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kern="100" dirty="0" smtClean="0">
                <a:solidFill>
                  <a:srgbClr val="000000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Users and their Responsibilities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System Scope</a:t>
            </a:r>
            <a:endParaRPr lang="en-IN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057400" y="1540510"/>
          <a:ext cx="5105400" cy="4338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6600"/>
                <a:gridCol w="1828800"/>
              </a:tblGrid>
              <a:tr h="5384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323850">
                <a:tc>
                  <a:txBody>
                    <a:bodyPr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j-lt"/>
                          <a:ea typeface="Calibri" panose="020F0502020204030204" pitchFamily="34" charset="0"/>
                          <a:cs typeface="+mj-lt"/>
                        </a:rPr>
                        <a:t>Advanced Production Planning</a:t>
                      </a:r>
                      <a:endParaRPr lang="en-US" altLang="en-US" sz="1200" b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j-lt"/>
                        <a:ea typeface="Calibri" panose="020F0502020204030204" pitchFamily="34" charset="0"/>
                        <a:cs typeface="+mj-lt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</a:rPr>
                        <a:t>Excel Bulk Import &amp; Validation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 smtClean="0">
                          <a:solidFill>
                            <a:schemeClr val="tx1"/>
                          </a:solidFill>
                          <a:effectLst/>
                        </a:rPr>
                        <a:t>Flow </a:t>
                      </a:r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</a:rPr>
                        <a:t>Assignment Logic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Dashboards 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 smtClean="0">
                          <a:solidFill>
                            <a:schemeClr val="tx1"/>
                          </a:solidFill>
                          <a:effectLst/>
                        </a:rPr>
                        <a:t>Manage</a:t>
                      </a:r>
                      <a:r>
                        <a:rPr lang="en-IN" sz="12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Operator MRL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</a:rPr>
                        <a:t>QR Code Identity Generation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b="0" dirty="0" smtClean="0">
                          <a:solidFill>
                            <a:schemeClr val="tx1"/>
                          </a:solidFill>
                          <a:effectLst/>
                        </a:rPr>
                        <a:t>Live Traceability Dashboard</a:t>
                      </a:r>
                      <a:endParaRPr lang="en-IN" sz="1050" b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 for PCB Productions</a:t>
                      </a:r>
                      <a:endParaRPr lang="en-IN" sz="1200" b="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</a:rPr>
                        <a:t>Machine File Auto-Ingestion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Simulation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Instruction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Manual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b="0" dirty="0" smtClean="0">
                          <a:solidFill>
                            <a:schemeClr val="tx1"/>
                          </a:solidFill>
                          <a:effectLst/>
                        </a:rPr>
                        <a:t>Rework Re-routing Logic</a:t>
                      </a:r>
                      <a:endParaRPr lang="en-IN" sz="1050" b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0" dirty="0" smtClean="0">
                          <a:solidFill>
                            <a:schemeClr val="tx1"/>
                          </a:solidFill>
                          <a:effectLst/>
                        </a:rPr>
                        <a:t>BEL Calendar Alert System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en-US" sz="1200" b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j-lt"/>
                          <a:ea typeface="Calibri" panose="020F0502020204030204" pitchFamily="34" charset="0"/>
                          <a:cs typeface="+mj-lt"/>
                        </a:rPr>
                        <a:t>Integration &amp; ERP Modules</a:t>
                      </a:r>
                      <a:endParaRPr lang="en-US" altLang="en-US" sz="1200" b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j-lt"/>
                        <a:ea typeface="Calibri" panose="020F0502020204030204" pitchFamily="34" charset="0"/>
                        <a:cs typeface="+mj-lt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1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System Scope</a:t>
            </a:r>
            <a:endParaRPr lang="en-IN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533400" y="1600200"/>
            <a:ext cx="8077200" cy="352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+mj-lt"/>
                <a:ea typeface="Times New Roman" panose="02020603050405020304" pitchFamily="18" charset="0"/>
              </a:rPr>
              <a:t>The system is designed to digitize the entire lifecycle of a PCB on the assembly line from intake and workflow definition to real-time machine monitoring and quality control. It focuses on </a:t>
            </a:r>
            <a:r>
              <a:rPr lang="en-IN" b="1" dirty="0">
                <a:latin typeface="+mj-lt"/>
                <a:ea typeface="Times New Roman" panose="02020603050405020304" pitchFamily="18" charset="0"/>
              </a:rPr>
              <a:t>traceability, compliance (MRL-based access), and automated data capture.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Key Functional Modules (In-Scope)</a:t>
            </a:r>
            <a:endParaRPr lang="en-IN" sz="24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PCB Inventory &amp; Intake</a:t>
            </a:r>
            <a:endParaRPr lang="en-IN" sz="20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Admin capability to add new </a:t>
            </a:r>
            <a:r>
              <a:rPr lang="en-IN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PCBs.</a:t>
            </a:r>
            <a:endParaRPr lang="en-IN" dirty="0" smtClean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Lifecycle </a:t>
            </a: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Management: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Status transitions from 'New' to 'Inaction' to 'Completed'.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Bulk Data Handling: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Support for Excel-based data imports and validation</a:t>
            </a:r>
            <a:r>
              <a:rPr lang="en-IN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 smtClean="0"/>
              <a:t>System Scope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49580" y="1524000"/>
            <a:ext cx="8153400" cy="4457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Dynamic Workflow Engine</a:t>
            </a:r>
            <a:endParaRPr lang="en-IN" sz="20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Workflow Mapping: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Defining sequences of operations and linking them to specific PCBs.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Smart Assignment: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Automatically pushing tasks to the next operator in the sequence.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Search &amp; Navigation: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Ability to search through flow assignments for quick access.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Compliance &amp; Resource Management (MRL)</a:t>
            </a:r>
            <a:endParaRPr lang="en-IN" sz="20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MRL Tracking: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Managing Operator eligibility based on their Manufacturing Readiness Level (MRL).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Access Control: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Hard locks to prevent operators with expired MRLs from performing tasks.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Identification: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Generation of QR codes for operators linked to their MRL status.</a:t>
            </a:r>
            <a:endParaRPr lang="en-IN" sz="1800" dirty="0">
              <a:effectLst/>
              <a:latin typeface="+mj-lt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 smtClean="0"/>
              <a:t>System Scope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41960" y="1524000"/>
            <a:ext cx="8229600" cy="4180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Shop Floor Execution &amp; </a:t>
            </a:r>
            <a:r>
              <a:rPr lang="en-IN" b="1" kern="100" dirty="0" err="1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  <a:endParaRPr lang="en-IN" sz="20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Operator Interface: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Digital display of instructions and task lists.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Data Capture: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Integration with QR scanners to populate forms and manual data recording.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Machine Integration: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Automated ingestion of machine-generated files and real-time machine status monitoring.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Simulation: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A digital twin environment to track and update data mirroring machine states</a:t>
            </a:r>
            <a:r>
              <a:rPr lang="en-IN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.</a:t>
            </a:r>
            <a:endParaRPr lang="en-IN" dirty="0" smtClean="0">
              <a:solidFill>
                <a:srgbClr val="000000"/>
              </a:solidFill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IN" b="1" kern="100" dirty="0" smtClean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b="1" kern="1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Quality Assurance (QA) &amp; Rework</a:t>
            </a:r>
            <a:endParaRPr lang="en-IN" sz="2000" b="1" kern="100" dirty="0">
              <a:solidFill>
                <a:srgbClr val="2F5496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Exception Handling:</a:t>
            </a:r>
            <a:r>
              <a:rPr lang="en-IN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</a:rPr>
              <a:t> Logic for re-routing and initiating rework stages.</a:t>
            </a:r>
            <a:endParaRPr lang="en-IN" dirty="0">
              <a:latin typeface="+mj-lt"/>
              <a:ea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0000"/>
                </a:solidFill>
                <a:latin typeface="+mj-lt"/>
                <a:ea typeface="Calibri" panose="020F0502020204030204" pitchFamily="34" charset="0"/>
              </a:rPr>
              <a:t>Quality Oversight:</a:t>
            </a:r>
            <a:r>
              <a:rPr lang="en-IN" dirty="0">
                <a:solidFill>
                  <a:srgbClr val="000000"/>
                </a:solidFill>
                <a:latin typeface="+mj-lt"/>
                <a:ea typeface="Calibri" panose="020F0502020204030204" pitchFamily="34" charset="0"/>
              </a:rPr>
              <a:t> A dedicated rework stage managed specifically by Quality Managers.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 smtClean="0"/>
              <a:t>System Scope</a:t>
            </a:r>
            <a:endParaRPr lang="en-IN" b="1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0" y="1652850"/>
            <a:ext cx="6477000" cy="2785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6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. Planning &amp; Monitoring Dashboards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2F5496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Production Scheduler: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 Tools for planning production timelines.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Traceability Dashboard: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 Live "where-is-it" tracking for Admins and Supervisors.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Alert System: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 Light" panose="020F0302020204030204" pitchFamily="34" charset="0"/>
              </a:rPr>
              <a:t> Notification engine for due dates aligned with the BEL calendar.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0360A62-C6AB-4D14-BB76-04F31B2C262C}" type="slidenum">
              <a:rPr lang="en-US" sz="1000" b="1">
                <a:latin typeface="Tahoma" panose="020B0604030504040204" pitchFamily="34" charset="0"/>
              </a:rPr>
            </a:fld>
            <a:endParaRPr lang="en-US" sz="1000"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173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 smtClean="0"/>
              <a:t>.</a:t>
            </a:r>
            <a:endParaRPr lang="en-IN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457200" y="1771908"/>
            <a:ext cx="807720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Maximize Productivity:</a:t>
            </a:r>
            <a:r>
              <a:rPr lang="en-US" altLang="en-US" dirty="0">
                <a:latin typeface="Arial" panose="020B0604020202020204" pitchFamily="34" charset="0"/>
              </a:rPr>
              <a:t> By reducing manual labor and human-centric dependencies in PCB assembly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Elimination of Manual Errors:</a:t>
            </a:r>
            <a:r>
              <a:rPr lang="en-US" altLang="en-US" dirty="0">
                <a:latin typeface="Arial" panose="020B0604020202020204" pitchFamily="34" charset="0"/>
              </a:rPr>
              <a:t> Replaces manual Excel entries and paper route cards with digital validation to eradicate data-related inaccuracies.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Data-Driven Intelligence:</a:t>
            </a:r>
            <a:r>
              <a:rPr lang="en-US" altLang="en-US" dirty="0">
                <a:latin typeface="Arial" panose="020B0604020202020204" pitchFamily="34" charset="0"/>
              </a:rPr>
              <a:t> By synchronizing machine output files and real-time statuses directly into a centralized monitoring system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br>
              <a:rPr lang="en-US" altLang="en-US" dirty="0" smtClean="0">
                <a:latin typeface="Arial" panose="020B0604020202020204" pitchFamily="34" charset="0"/>
              </a:rPr>
            </a:br>
            <a:endParaRPr lang="en-US" altLang="en-US" dirty="0" smtClean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b="1" dirty="0" smtClean="0">
                <a:latin typeface="Arial" panose="020B0604020202020204" pitchFamily="34" charset="0"/>
              </a:rPr>
              <a:t>Enhanced Real-Time Traceability:</a:t>
            </a:r>
            <a:r>
              <a:rPr lang="en-US" altLang="en-US" dirty="0" smtClean="0">
                <a:latin typeface="Arial" panose="020B0604020202020204" pitchFamily="34" charset="0"/>
              </a:rPr>
              <a:t> Provides live "where-is-it" tracking for every PCB throughout all 40+ production stages.</a:t>
            </a:r>
            <a:br>
              <a:rPr lang="en-US" altLang="en-US" dirty="0" smtClean="0">
                <a:latin typeface="Arial" panose="020B0604020202020204" pitchFamily="34" charset="0"/>
              </a:rPr>
            </a:br>
            <a:endParaRPr lang="en-US" altLang="en-US" dirty="0" smtClean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US" altLang="en-US" b="1" dirty="0" smtClean="0">
                <a:latin typeface="Arial" panose="020B0604020202020204" pitchFamily="34" charset="0"/>
              </a:rPr>
              <a:t>Proactive Alerting:</a:t>
            </a:r>
            <a:r>
              <a:rPr lang="en-US" altLang="en-US" dirty="0" smtClean="0">
                <a:latin typeface="Arial" panose="020B0604020202020204" pitchFamily="34" charset="0"/>
              </a:rPr>
              <a:t> Notifies users of upcoming due dates and MRL expiry Dates to prevent production delays.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0572" y="2967335"/>
            <a:ext cx="43428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THANK</a:t>
            </a:r>
            <a:r>
              <a:rPr lang="en-US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YOU</a:t>
            </a:r>
            <a:endParaRPr 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02*316"/>
  <p:tag name="TABLE_ENDDRAG_RECT" val="162*121*402*316"/>
  <p:tag name="TABLE_AUTOADJUST_FLAG" val="1"/>
</p:tagLst>
</file>

<file path=ppt/tags/tag2.xml><?xml version="1.0" encoding="utf-8"?>
<p:tagLst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&quot;/&gt;&lt;property id=&quot;20307&quot; value=&quot;258&quot;/&gt;&lt;/object&gt;&lt;object type=&quot;3&quot; unique_id=&quot;10007&quot;&gt;&lt;property id=&quot;20148&quot; value=&quot;5&quot;/&gt;&lt;property id=&quot;20300&quot; value=&quot;Slide 4&quot;/&gt;&lt;property id=&quot;20307&quot; value=&quot;259&quot;/&gt;&lt;/object&gt;&lt;object type=&quot;3&quot; unique_id=&quot;10008&quot;&gt;&lt;property id=&quot;20148&quot; value=&quot;5&quot;/&gt;&lt;property id=&quot;20300&quot; value=&quot;Slide 5&quot;/&gt;&lt;property id=&quot;20307&quot; value=&quot;261&quot;/&gt;&lt;/object&gt;&lt;object type=&quot;3&quot; unique_id=&quot;10009&quot;&gt;&lt;property id=&quot;20148&quot; value=&quot;5&quot;/&gt;&lt;property id=&quot;20300&quot; value=&quot;Slide 6&quot;/&gt;&lt;property id=&quot;20307&quot; value=&quot;262&quot;/&gt;&lt;/object&gt;&lt;object type=&quot;3&quot; unique_id=&quot;10010&quot;&gt;&lt;property id=&quot;20148&quot; value=&quot;5&quot;/&gt;&lt;property id=&quot;20300&quot; value=&quot;Slide 7&quot;/&gt;&lt;property id=&quot;20307&quot; value=&quot;263&quot;/&gt;&lt;/object&gt;&lt;object type=&quot;3&quot; unique_id=&quot;10011&quot;&gt;&lt;property id=&quot;20148&quot; value=&quot;5&quot;/&gt;&lt;property id=&quot;20300&quot; value=&quot;Slide 8&quot;/&gt;&lt;property id=&quot;20307&quot; value=&quot;279&quot;/&gt;&lt;/object&gt;&lt;object type=&quot;3&quot; unique_id=&quot;10012&quot;&gt;&lt;property id=&quot;20148&quot; value=&quot;5&quot;/&gt;&lt;property id=&quot;20300&quot; value=&quot;Slide 9&quot;/&gt;&lt;property id=&quot;20307&quot; value=&quot;260&quot;/&gt;&lt;/object&gt;&lt;object type=&quot;3&quot; unique_id=&quot;10013&quot;&gt;&lt;property id=&quot;20148&quot; value=&quot;5&quot;/&gt;&lt;property id=&quot;20300&quot; value=&quot;Slide 10&quot;/&gt;&lt;property id=&quot;20307&quot; value=&quot;264&quot;/&gt;&lt;/object&gt;&lt;object type=&quot;3&quot; unique_id=&quot;10014&quot;&gt;&lt;property id=&quot;20148&quot; value=&quot;5&quot;/&gt;&lt;property id=&quot;20300&quot; value=&quot;Slide 11&quot;/&gt;&lt;property id=&quot;20307&quot; value=&quot;265&quot;/&gt;&lt;/object&gt;&lt;object type=&quot;3&quot; unique_id=&quot;10015&quot;&gt;&lt;property id=&quot;20148&quot; value=&quot;5&quot;/&gt;&lt;property id=&quot;20300&quot; value=&quot;Slide 12&quot;/&gt;&lt;property id=&quot;20307&quot; value=&quot;266&quot;/&gt;&lt;/object&gt;&lt;object type=&quot;3&quot; unique_id=&quot;10016&quot;&gt;&lt;property id=&quot;20148&quot; value=&quot;5&quot;/&gt;&lt;property id=&quot;20300&quot; value=&quot;Slide 20&quot;/&gt;&lt;property id=&quot;20307&quot; value=&quot;267&quot;/&gt;&lt;/object&gt;&lt;object type=&quot;3&quot; unique_id=&quot;10017&quot;&gt;&lt;property id=&quot;20148&quot; value=&quot;5&quot;/&gt;&lt;property id=&quot;20300&quot; value=&quot;Slide 13&quot;/&gt;&lt;property id=&quot;20307&quot; value=&quot;268&quot;/&gt;&lt;/object&gt;&lt;object type=&quot;3&quot; unique_id=&quot;10018&quot;&gt;&lt;property id=&quot;20148&quot; value=&quot;5&quot;/&gt;&lt;property id=&quot;20300&quot; value=&quot;Slide 15&quot;/&gt;&lt;property id=&quot;20307&quot; value=&quot;269&quot;/&gt;&lt;/object&gt;&lt;object type=&quot;3&quot; unique_id=&quot;10019&quot;&gt;&lt;property id=&quot;20148&quot; value=&quot;5&quot;/&gt;&lt;property id=&quot;20300&quot; value=&quot;Slide 16&quot;/&gt;&lt;property id=&quot;20307&quot; value=&quot;270&quot;/&gt;&lt;/object&gt;&lt;object type=&quot;3&quot; unique_id=&quot;10020&quot;&gt;&lt;property id=&quot;20148&quot; value=&quot;5&quot;/&gt;&lt;property id=&quot;20300&quot; value=&quot;Slide 19&quot;/&gt;&lt;property id=&quot;20307&quot; value=&quot;271&quot;/&gt;&lt;/object&gt;&lt;object type=&quot;3&quot; unique_id=&quot;10021&quot;&gt;&lt;property id=&quot;20148&quot; value=&quot;5&quot;/&gt;&lt;property id=&quot;20300&quot; value=&quot;Slide 17&quot;/&gt;&lt;property id=&quot;20307&quot; value=&quot;272&quot;/&gt;&lt;/object&gt;&lt;object type=&quot;3&quot; unique_id=&quot;10022&quot;&gt;&lt;property id=&quot;20148&quot; value=&quot;5&quot;/&gt;&lt;property id=&quot;20300&quot; value=&quot;Slide 28&quot;/&gt;&lt;property id=&quot;20307&quot; value=&quot;273&quot;/&gt;&lt;/object&gt;&lt;object type=&quot;3&quot; unique_id=&quot;10023&quot;&gt;&lt;property id=&quot;20148&quot; value=&quot;5&quot;/&gt;&lt;property id=&quot;20300&quot; value=&quot;Slide 29&quot;/&gt;&lt;property id=&quot;20307&quot; value=&quot;274&quot;/&gt;&lt;/object&gt;&lt;object type=&quot;3&quot; unique_id=&quot;10024&quot;&gt;&lt;property id=&quot;20148&quot; value=&quot;5&quot;/&gt;&lt;property id=&quot;20300&quot; value=&quot;Slide 30&quot;/&gt;&lt;property id=&quot;20307&quot; value=&quot;275&quot;/&gt;&lt;/object&gt;&lt;object type=&quot;3&quot; unique_id=&quot;10025&quot;&gt;&lt;property id=&quot;20148&quot; value=&quot;5&quot;/&gt;&lt;property id=&quot;20300&quot; value=&quot;Slide 31&quot;/&gt;&lt;property id=&quot;20307&quot; value=&quot;276&quot;/&gt;&lt;/object&gt;&lt;object type=&quot;3&quot; unique_id=&quot;10026&quot;&gt;&lt;property id=&quot;20148&quot; value=&quot;5&quot;/&gt;&lt;property id=&quot;20300&quot; value=&quot;Slide 35&quot;/&gt;&lt;property id=&quot;20307&quot; value=&quot;277&quot;/&gt;&lt;/object&gt;&lt;object type=&quot;3&quot; unique_id=&quot;10027&quot;&gt;&lt;property id=&quot;20148&quot; value=&quot;5&quot;/&gt;&lt;property id=&quot;20300&quot; value=&quot;Slide 36&quot;/&gt;&lt;property id=&quot;20307&quot; value=&quot;278&quot;/&gt;&lt;/object&gt;&lt;object type=&quot;3&quot; unique_id=&quot;10028&quot;&gt;&lt;property id=&quot;20148&quot; value=&quot;5&quot;/&gt;&lt;property id=&quot;20300&quot; value=&quot;Slide 14&quot;/&gt;&lt;property id=&quot;20307&quot; value=&quot;280&quot;/&gt;&lt;/object&gt;&lt;object type=&quot;3&quot; unique_id=&quot;10029&quot;&gt;&lt;property id=&quot;20148&quot; value=&quot;5&quot;/&gt;&lt;property id=&quot;20300&quot; value=&quot;Slide 18&quot;/&gt;&lt;property id=&quot;20307&quot; value=&quot;285&quot;/&gt;&lt;/object&gt;&lt;object type=&quot;3&quot; unique_id=&quot;10030&quot;&gt;&lt;property id=&quot;20148&quot; value=&quot;5&quot;/&gt;&lt;property id=&quot;20300&quot; value=&quot;Slide 21&quot;/&gt;&lt;property id=&quot;20307&quot; value=&quot;288&quot;/&gt;&lt;/object&gt;&lt;object type=&quot;3&quot; unique_id=&quot;10031&quot;&gt;&lt;property id=&quot;20148&quot; value=&quot;5&quot;/&gt;&lt;property id=&quot;20300&quot; value=&quot;Slide 22&quot;/&gt;&lt;property id=&quot;20307&quot; value=&quot;289&quot;/&gt;&lt;/object&gt;&lt;object type=&quot;3&quot; unique_id=&quot;10032&quot;&gt;&lt;property id=&quot;20148&quot; value=&quot;5&quot;/&gt;&lt;property id=&quot;20300&quot; value=&quot;Slide 23&quot;/&gt;&lt;property id=&quot;20307&quot; value=&quot;290&quot;/&gt;&lt;/object&gt;&lt;object type=&quot;3&quot; unique_id=&quot;10033&quot;&gt;&lt;property id=&quot;20148&quot; value=&quot;5&quot;/&gt;&lt;property id=&quot;20300&quot; value=&quot;Slide 24&quot;/&gt;&lt;property id=&quot;20307&quot; value=&quot;291&quot;/&gt;&lt;/object&gt;&lt;object type=&quot;3&quot; unique_id=&quot;10034&quot;&gt;&lt;property id=&quot;20148&quot; value=&quot;5&quot;/&gt;&lt;property id=&quot;20300&quot; value=&quot;Slide 25&quot;/&gt;&lt;property id=&quot;20307&quot; value=&quot;287&quot;/&gt;&lt;/object&gt;&lt;object type=&quot;3&quot; unique_id=&quot;10035&quot;&gt;&lt;property id=&quot;20148&quot; value=&quot;5&quot;/&gt;&lt;property id=&quot;20300&quot; value=&quot;Slide 26&quot;/&gt;&lt;property id=&quot;20307&quot; value=&quot;281&quot;/&gt;&lt;/object&gt;&lt;object type=&quot;3&quot; unique_id=&quot;10036&quot;&gt;&lt;property id=&quot;20148&quot; value=&quot;5&quot;/&gt;&lt;property id=&quot;20300&quot; value=&quot;Slide 27&quot;/&gt;&lt;property id=&quot;20307&quot; value=&quot;286&quot;/&gt;&lt;/object&gt;&lt;object type=&quot;3&quot; unique_id=&quot;10037&quot;&gt;&lt;property id=&quot;20148&quot; value=&quot;5&quot;/&gt;&lt;property id=&quot;20300&quot; value=&quot;Slide 32&quot;/&gt;&lt;property id=&quot;20307&quot; value=&quot;282&quot;/&gt;&lt;/object&gt;&lt;object type=&quot;3&quot; unique_id=&quot;10038&quot;&gt;&lt;property id=&quot;20148&quot; value=&quot;5&quot;/&gt;&lt;property id=&quot;20300&quot; value=&quot;Slide 33&quot;/&gt;&lt;property id=&quot;20307&quot; value=&quot;283&quot;/&gt;&lt;/object&gt;&lt;object type=&quot;3&quot; unique_id=&quot;10039&quot;&gt;&lt;property id=&quot;20148&quot; value=&quot;5&quot;/&gt;&lt;property id=&quot;20300&quot; value=&quot;Slide 34&quot;/&gt;&lt;property id=&quot;20307&quot; value=&quot;28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L Presentatio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5149</Words>
  <Application>WPS Presentation</Application>
  <PresentationFormat>On-screen Show (4:3)</PresentationFormat>
  <Paragraphs>213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Tahoma</vt:lpstr>
      <vt:lpstr>Tahoma</vt:lpstr>
      <vt:lpstr>Times New Roman</vt:lpstr>
      <vt:lpstr>Calibri</vt:lpstr>
      <vt:lpstr>Calibri Light</vt:lpstr>
      <vt:lpstr>Symbol</vt:lpstr>
      <vt:lpstr>Microsoft YaHei</vt:lpstr>
      <vt:lpstr>Arial Unicode MS</vt:lpstr>
      <vt:lpstr>Default Design</vt:lpstr>
      <vt:lpstr>blank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prahelad</dc:creator>
  <cp:lastModifiedBy>N Aditya</cp:lastModifiedBy>
  <cp:revision>2618</cp:revision>
  <dcterms:created xsi:type="dcterms:W3CDTF">2009-11-15T18:18:00Z</dcterms:created>
  <dcterms:modified xsi:type="dcterms:W3CDTF">2026-03-27T16:58:05Z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F95CBB2862304C4AAE0A314BCFEDEA3B_12</vt:lpwstr>
  </property>
  <property fmtid="{D5CDD505-2E9C-101B-9397-08002B2CF9AE}" pid="3" name="KSOProductBuildVer">
    <vt:lpwstr>1033-12.2.0.23196</vt:lpwstr>
  </property>
</Properties>
</file>